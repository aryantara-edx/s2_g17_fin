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Helvetica World Bold" charset="1" panose="020B0800040000020004"/>
      <p:regular r:id="rId30"/>
    </p:embeddedFont>
    <p:embeddedFont>
      <p:font typeface="Arial Bold" charset="1" panose="020B0704020202020204"/>
      <p:regular r:id="rId31"/>
    </p:embeddedFont>
    <p:embeddedFont>
      <p:font typeface="Helvetica World" charset="1" panose="020B0500040000020004"/>
      <p:regular r:id="rId32"/>
    </p:embeddedFont>
    <p:embeddedFont>
      <p:font typeface="Calibri (MS) Bold" charset="1" panose="020F0702030404030204"/>
      <p:regular r:id="rId33"/>
    </p:embeddedFont>
    <p:embeddedFont>
      <p:font typeface="Calibri (MS)" charset="1" panose="020F0502020204030204"/>
      <p:regular r:id="rId34"/>
    </p:embeddedFont>
    <p:embeddedFont>
      <p:font typeface="Canva Sans Bold" charset="1" panose="020B0803030501040103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9988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988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73053" y="676846"/>
            <a:ext cx="6159208" cy="2021586"/>
            <a:chOff x="0" y="0"/>
            <a:chExt cx="8212277" cy="26954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12328" cy="2695448"/>
            </a:xfrm>
            <a:custGeom>
              <a:avLst/>
              <a:gdLst/>
              <a:ahLst/>
              <a:cxnLst/>
              <a:rect r="r" b="b" t="t" l="l"/>
              <a:pathLst>
                <a:path h="2695448" w="8212328">
                  <a:moveTo>
                    <a:pt x="0" y="0"/>
                  </a:moveTo>
                  <a:lnTo>
                    <a:pt x="8212328" y="0"/>
                  </a:lnTo>
                  <a:lnTo>
                    <a:pt x="8212328" y="2695448"/>
                  </a:lnTo>
                  <a:lnTo>
                    <a:pt x="0" y="2695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" t="0" r="-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29988" y="3490981"/>
            <a:ext cx="14465687" cy="1479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b="true" sz="5100" spc="-19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Expected stock returns </a:t>
            </a:r>
            <a:r>
              <a:rPr lang="en-US" b="true" sz="5100" spc="-19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and </a:t>
            </a:r>
            <a:r>
              <a:rPr lang="en-US" b="true" sz="5100" spc="-19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Variance risk premia</a:t>
            </a:r>
          </a:p>
          <a:p>
            <a:pPr algn="ctr">
              <a:lnSpc>
                <a:spcPts val="550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543701" y="733996"/>
            <a:ext cx="15590520" cy="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4"/>
              </a:lnSpc>
            </a:pPr>
            <a:r>
              <a:rPr lang="en-US" sz="4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CSE400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9064" y="4608073"/>
            <a:ext cx="14124542" cy="78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FFDE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M5 Submission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9064" y="6697599"/>
            <a:ext cx="8614936" cy="3641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Section 2 - Group 17</a:t>
            </a:r>
          </a:p>
          <a:p>
            <a:pPr algn="l">
              <a:lnSpc>
                <a:spcPts val="3162"/>
              </a:lnSpc>
            </a:pPr>
          </a:p>
          <a:p>
            <a:pPr algn="l">
              <a:lnSpc>
                <a:spcPts val="3023"/>
              </a:lnSpc>
            </a:pPr>
            <a:r>
              <a:rPr lang="en-US" sz="27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Aryan Tarachandani -  AU2420177 </a:t>
            </a:r>
          </a:p>
          <a:p>
            <a:pPr algn="l">
              <a:lnSpc>
                <a:spcPts val="3023"/>
              </a:lnSpc>
            </a:pPr>
            <a:r>
              <a:rPr lang="en-US" sz="27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Nishka Shah - AU2440168</a:t>
            </a:r>
          </a:p>
          <a:p>
            <a:pPr algn="l">
              <a:lnSpc>
                <a:spcPts val="3023"/>
              </a:lnSpc>
            </a:pPr>
            <a:r>
              <a:rPr lang="en-US" sz="27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Keya Shah - AU2440177</a:t>
            </a:r>
          </a:p>
          <a:p>
            <a:pPr algn="l">
              <a:lnSpc>
                <a:spcPts val="3023"/>
              </a:lnSpc>
            </a:pPr>
            <a:r>
              <a:rPr lang="en-US" sz="27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Kritee Shah - AU2440080</a:t>
            </a:r>
          </a:p>
          <a:p>
            <a:pPr algn="l">
              <a:lnSpc>
                <a:spcPts val="3023"/>
              </a:lnSpc>
            </a:pPr>
            <a:r>
              <a:rPr lang="en-US" sz="27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Lay Patel - AU240258</a:t>
            </a:r>
          </a:p>
          <a:p>
            <a:pPr algn="l">
              <a:lnSpc>
                <a:spcPts val="302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90327" y="5706183"/>
            <a:ext cx="1448999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Domain: - </a:t>
            </a:r>
            <a:r>
              <a:rPr lang="en-US" b="true" sz="44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Financial Markets, Stock Return Prediction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115438"/>
            <a:ext cx="15773400" cy="925142"/>
            <a:chOff x="0" y="0"/>
            <a:chExt cx="21031200" cy="1233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233525"/>
            </a:xfrm>
            <a:custGeom>
              <a:avLst/>
              <a:gdLst/>
              <a:ahLst/>
              <a:cxnLst/>
              <a:rect r="r" b="b" t="t" l="l"/>
              <a:pathLst>
                <a:path h="123352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33525"/>
                  </a:lnTo>
                  <a:lnTo>
                    <a:pt x="0" y="1233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722" r="0" b="-2807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2049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7D19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Context and Motivation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621491"/>
            <a:ext cx="18044482" cy="908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7"/>
              </a:lnSpc>
            </a:pPr>
          </a:p>
          <a:p>
            <a:pPr algn="l">
              <a:lnSpc>
                <a:spcPts val="5977"/>
              </a:lnSpc>
            </a:pPr>
            <a:r>
              <a:rPr lang="en-US" sz="4094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Idea</a:t>
            </a:r>
          </a:p>
          <a:p>
            <a:pPr algn="l" marL="883946" indent="-441973" lvl="1">
              <a:lnSpc>
                <a:spcPts val="5977"/>
              </a:lnSpc>
              <a:buFont typeface="Arial"/>
              <a:buChar char="•"/>
            </a:pP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Financial markets are inherently uncertain and dynamic systems</a:t>
            </a:r>
          </a:p>
          <a:p>
            <a:pPr algn="l" marL="883946" indent="-441973" lvl="1">
              <a:lnSpc>
                <a:spcPts val="5977"/>
              </a:lnSpc>
              <a:buFont typeface="Arial"/>
              <a:buChar char="•"/>
            </a:pP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 variables like volatility are not directly observable, but estimated</a:t>
            </a:r>
          </a:p>
          <a:p>
            <a:pPr algn="l">
              <a:lnSpc>
                <a:spcPts val="5977"/>
              </a:lnSpc>
            </a:pPr>
          </a:p>
          <a:p>
            <a:pPr algn="l">
              <a:lnSpc>
                <a:spcPts val="5977"/>
              </a:lnSpc>
            </a:pPr>
            <a:r>
              <a:rPr lang="en-US" sz="4094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is VRP?</a:t>
            </a:r>
          </a:p>
          <a:p>
            <a:pPr algn="l" marL="883946" indent="-441973" lvl="1">
              <a:lnSpc>
                <a:spcPts val="5977"/>
              </a:lnSpc>
              <a:buFont typeface="Arial"/>
              <a:buChar char="•"/>
            </a:pP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Var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iance Risk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remium (VRP) i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 def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ined as:</a:t>
            </a:r>
          </a:p>
          <a:p>
            <a:pPr algn="l">
              <a:lnSpc>
                <a:spcPts val="5977"/>
              </a:lnSpc>
            </a:pP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VRP = Impli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 Volatility − Re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alized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Volatility</a:t>
            </a:r>
          </a:p>
          <a:p>
            <a:pPr algn="l" marL="883946" indent="-441973" lvl="1">
              <a:lnSpc>
                <a:spcPts val="5977"/>
              </a:lnSpc>
              <a:buFont typeface="Arial"/>
              <a:buChar char="•"/>
            </a:pP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asures the dif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rence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b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etwee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n:</a:t>
            </a:r>
          </a:p>
          <a:p>
            <a:pPr algn="l" marL="1767893" indent="-589298" lvl="2">
              <a:lnSpc>
                <a:spcPts val="5977"/>
              </a:lnSpc>
              <a:buFont typeface="Arial"/>
              <a:buChar char="⚬"/>
            </a:pP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ket ex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ectat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ns of</a:t>
            </a: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future risk (IV)</a:t>
            </a:r>
          </a:p>
          <a:p>
            <a:pPr algn="l" marL="1767893" indent="-589298" lvl="2">
              <a:lnSpc>
                <a:spcPts val="5977"/>
              </a:lnSpc>
              <a:buFont typeface="Arial"/>
              <a:buChar char="⚬"/>
            </a:pPr>
            <a:r>
              <a:rPr lang="en-US" sz="409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Actual observed risk (RV)</a:t>
            </a:r>
          </a:p>
          <a:p>
            <a:pPr algn="l">
              <a:lnSpc>
                <a:spcPts val="597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755754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8220" y="308940"/>
            <a:ext cx="20721698" cy="785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4701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VRP is Important</a:t>
            </a:r>
          </a:p>
          <a:p>
            <a:pPr algn="l" marL="1015096" indent="-507548" lvl="1">
              <a:lnSpc>
                <a:spcPts val="6864"/>
              </a:lnSpc>
              <a:buFont typeface="Arial"/>
              <a:buChar char="•"/>
            </a:pPr>
            <a:r>
              <a:rPr lang="en-US" sz="4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VRP reflects how much extra return investors demand for risk</a:t>
            </a:r>
          </a:p>
          <a:p>
            <a:pPr algn="l" marL="1015096" indent="-507548" lvl="1">
              <a:lnSpc>
                <a:spcPts val="6864"/>
              </a:lnSpc>
              <a:buFont typeface="Arial"/>
              <a:buChar char="•"/>
            </a:pPr>
            <a:r>
              <a:rPr lang="en-US" sz="4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is widely used in:</a:t>
            </a:r>
          </a:p>
          <a:p>
            <a:pPr algn="l" marL="2030193" indent="-676731" lvl="2">
              <a:lnSpc>
                <a:spcPts val="6864"/>
              </a:lnSpc>
              <a:buFont typeface="Arial"/>
              <a:buChar char="⚬"/>
            </a:pPr>
            <a:r>
              <a:rPr lang="en-US" sz="4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risk management</a:t>
            </a:r>
          </a:p>
          <a:p>
            <a:pPr algn="l" marL="2030193" indent="-676731" lvl="2">
              <a:lnSpc>
                <a:spcPts val="6864"/>
              </a:lnSpc>
              <a:buFont typeface="Arial"/>
              <a:buChar char="⚬"/>
            </a:pPr>
            <a:r>
              <a:rPr lang="en-US" sz="4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portfolio allocation</a:t>
            </a:r>
          </a:p>
          <a:p>
            <a:pPr algn="l" marL="2030193" indent="-676731" lvl="2">
              <a:lnSpc>
                <a:spcPts val="6864"/>
              </a:lnSpc>
              <a:buFont typeface="Arial"/>
              <a:buChar char="⚬"/>
            </a:pPr>
            <a:r>
              <a:rPr lang="en-US" sz="47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market forecasting</a:t>
            </a:r>
          </a:p>
          <a:p>
            <a:pPr algn="l">
              <a:lnSpc>
                <a:spcPts val="6864"/>
              </a:lnSpc>
            </a:pPr>
          </a:p>
          <a:p>
            <a:pPr algn="l">
              <a:lnSpc>
                <a:spcPts val="6864"/>
              </a:lnSpc>
            </a:pPr>
            <a:r>
              <a:rPr lang="en-US" sz="4701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Issue</a:t>
            </a:r>
          </a:p>
          <a:p>
            <a:pPr algn="l">
              <a:lnSpc>
                <a:spcPts val="6864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44777" y="7662520"/>
            <a:ext cx="15198445" cy="1214923"/>
          </a:xfrm>
          <a:custGeom>
            <a:avLst/>
            <a:gdLst/>
            <a:ahLst/>
            <a:cxnLst/>
            <a:rect r="r" b="b" t="t" l="l"/>
            <a:pathLst>
              <a:path h="1214923" w="15198445">
                <a:moveTo>
                  <a:pt x="0" y="0"/>
                </a:moveTo>
                <a:lnTo>
                  <a:pt x="15198446" y="0"/>
                </a:lnTo>
                <a:lnTo>
                  <a:pt x="15198446" y="1214923"/>
                </a:lnTo>
                <a:lnTo>
                  <a:pt x="0" y="1214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755754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8220" y="308940"/>
            <a:ext cx="20721698" cy="785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4701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Motivation</a:t>
            </a:r>
          </a:p>
          <a:p>
            <a:pPr algn="l" marL="1015096" indent="-507548" lvl="1">
              <a:lnSpc>
                <a:spcPts val="6864"/>
              </a:lnSpc>
              <a:buFont typeface="Arial"/>
              <a:buChar char="•"/>
            </a:pPr>
            <a:r>
              <a:rPr lang="en-US" b="true" sz="470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470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raditional models treat these inputs as fixed values</a:t>
            </a:r>
          </a:p>
          <a:p>
            <a:pPr algn="l" marL="1015096" indent="-507548" lvl="1">
              <a:lnSpc>
                <a:spcPts val="6864"/>
              </a:lnSpc>
              <a:buFont typeface="Arial"/>
              <a:buChar char="•"/>
            </a:pPr>
            <a:r>
              <a:rPr lang="en-US" b="true" sz="470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</a:t>
            </a:r>
            <a:r>
              <a:rPr lang="en-US" b="true" sz="470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 leads to:</a:t>
            </a:r>
          </a:p>
          <a:p>
            <a:pPr algn="l" marL="2030193" indent="-676731" lvl="2">
              <a:lnSpc>
                <a:spcPts val="6864"/>
              </a:lnSpc>
              <a:buFont typeface="Arial"/>
              <a:buChar char="⚬"/>
            </a:pPr>
            <a:r>
              <a:rPr lang="en-US" b="true" sz="470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</a:t>
            </a:r>
            <a:r>
              <a:rPr lang="en-US" b="true" sz="470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rconfidence in predictions</a:t>
            </a:r>
          </a:p>
          <a:p>
            <a:pPr algn="l" marL="2030193" indent="-676731" lvl="2">
              <a:lnSpc>
                <a:spcPts val="6864"/>
              </a:lnSpc>
              <a:buFont typeface="Arial"/>
              <a:buChar char="⚬"/>
            </a:pPr>
            <a:r>
              <a:rPr lang="en-US" b="true" sz="470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ign</a:t>
            </a:r>
            <a:r>
              <a:rPr lang="en-US" b="true" sz="470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oring variability</a:t>
            </a:r>
          </a:p>
          <a:p>
            <a:pPr algn="l">
              <a:lnSpc>
                <a:spcPts val="6864"/>
              </a:lnSpc>
            </a:pPr>
          </a:p>
          <a:p>
            <a:pPr algn="l">
              <a:lnSpc>
                <a:spcPts val="6864"/>
              </a:lnSpc>
            </a:pPr>
          </a:p>
          <a:p>
            <a:pPr algn="l">
              <a:lnSpc>
                <a:spcPts val="6864"/>
              </a:lnSpc>
            </a:pPr>
            <a:r>
              <a:rPr lang="en-US" sz="4701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Motivation</a:t>
            </a:r>
          </a:p>
          <a:p>
            <a:pPr algn="l">
              <a:lnSpc>
                <a:spcPts val="6864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38220" y="7564611"/>
            <a:ext cx="17443036" cy="1199209"/>
          </a:xfrm>
          <a:custGeom>
            <a:avLst/>
            <a:gdLst/>
            <a:ahLst/>
            <a:cxnLst/>
            <a:rect r="r" b="b" t="t" l="l"/>
            <a:pathLst>
              <a:path h="1199209" w="17443036">
                <a:moveTo>
                  <a:pt x="0" y="0"/>
                </a:moveTo>
                <a:lnTo>
                  <a:pt x="17443036" y="0"/>
                </a:lnTo>
                <a:lnTo>
                  <a:pt x="17443036" y="1199209"/>
                </a:lnTo>
                <a:lnTo>
                  <a:pt x="0" y="1199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0"/>
            <a:ext cx="15773400" cy="925142"/>
            <a:chOff x="0" y="0"/>
            <a:chExt cx="21031200" cy="1233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233525"/>
            </a:xfrm>
            <a:custGeom>
              <a:avLst/>
              <a:gdLst/>
              <a:ahLst/>
              <a:cxnLst/>
              <a:rect r="r" b="b" t="t" l="l"/>
              <a:pathLst>
                <a:path h="123352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33525"/>
                  </a:lnTo>
                  <a:lnTo>
                    <a:pt x="0" y="1233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722" r="0" b="-2807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2049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7D19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Base Paper Overview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38220" y="865154"/>
            <a:ext cx="17376430" cy="877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6"/>
              </a:lnSpc>
            </a:pPr>
            <a:r>
              <a:rPr lang="en-US" sz="4783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Paper Objective</a:t>
            </a:r>
          </a:p>
          <a:p>
            <a:pPr algn="l">
              <a:lnSpc>
                <a:spcPts val="5166"/>
              </a:lnSpc>
            </a:pPr>
          </a:p>
          <a:p>
            <a:pPr algn="l" marL="1032722" indent="-516361" lvl="1">
              <a:lnSpc>
                <a:spcPts val="5166"/>
              </a:lnSpc>
              <a:buFont typeface="Arial"/>
              <a:buChar char="•"/>
            </a:pPr>
            <a:r>
              <a:rPr lang="en-US" sz="47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</a:t>
            </a:r>
            <a:r>
              <a:rPr lang="en-US" sz="47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paper studies wh</a:t>
            </a:r>
            <a:r>
              <a:rPr lang="en-US" sz="47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ether</a:t>
            </a:r>
            <a:r>
              <a:rPr lang="en-US" sz="47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Variance Risk Premium (VRP) can </a:t>
            </a:r>
            <a:r>
              <a:rPr lang="en-US" sz="47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future stock market returns</a:t>
            </a:r>
          </a:p>
          <a:p>
            <a:pPr algn="l" marL="1032722" indent="-516361" lvl="1">
              <a:lnSpc>
                <a:spcPts val="5166"/>
              </a:lnSpc>
              <a:buFont typeface="Arial"/>
              <a:buChar char="•"/>
            </a:pPr>
            <a:r>
              <a:rPr lang="en-US" sz="47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focuses on understanding how risk and unce</a:t>
            </a:r>
            <a:r>
              <a:rPr lang="en-US" sz="47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rtainty are</a:t>
            </a:r>
            <a:r>
              <a:rPr lang="en-US" sz="47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priced in financial markets</a:t>
            </a:r>
          </a:p>
          <a:p>
            <a:pPr algn="l">
              <a:lnSpc>
                <a:spcPts val="5022"/>
              </a:lnSpc>
            </a:pPr>
          </a:p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Deterministic Baseline Model</a:t>
            </a:r>
          </a:p>
          <a:p>
            <a:pPr algn="l">
              <a:lnSpc>
                <a:spcPts val="4592"/>
              </a:lnSpc>
            </a:pPr>
            <a:r>
              <a:rPr lang="en-US" sz="425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</a:t>
            </a:r>
            <a:r>
              <a:rPr lang="en-US" sz="42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Original Base formula was:</a:t>
            </a:r>
          </a:p>
          <a:p>
            <a:pPr algn="just">
              <a:lnSpc>
                <a:spcPts val="4592"/>
              </a:lnSpc>
            </a:pPr>
          </a:p>
          <a:p>
            <a:pPr algn="just">
              <a:lnSpc>
                <a:spcPts val="4592"/>
              </a:lnSpc>
            </a:pPr>
          </a:p>
          <a:p>
            <a:pPr algn="just" marL="917975" indent="-458988" lvl="1">
              <a:lnSpc>
                <a:spcPts val="4592"/>
              </a:lnSpc>
              <a:buFont typeface="Arial"/>
              <a:buChar char="•"/>
            </a:pPr>
            <a:r>
              <a:rPr lang="en-US" sz="42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IV = Implied volatility (from VIX)</a:t>
            </a:r>
          </a:p>
          <a:p>
            <a:pPr algn="just" marL="917975" indent="-458988" lvl="1">
              <a:lnSpc>
                <a:spcPts val="4592"/>
              </a:lnSpc>
              <a:buFont typeface="Arial"/>
              <a:buChar char="•"/>
            </a:pPr>
            <a:r>
              <a:rPr lang="en-US" sz="42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RV = Realized volatility (from S&amp;P 500)</a:t>
            </a:r>
          </a:p>
          <a:p>
            <a:pPr algn="just">
              <a:lnSpc>
                <a:spcPts val="4592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625679" y="6203674"/>
            <a:ext cx="5419929" cy="1230055"/>
          </a:xfrm>
          <a:custGeom>
            <a:avLst/>
            <a:gdLst/>
            <a:ahLst/>
            <a:cxnLst/>
            <a:rect r="r" b="b" t="t" l="l"/>
            <a:pathLst>
              <a:path h="1230055" w="5419929">
                <a:moveTo>
                  <a:pt x="0" y="0"/>
                </a:moveTo>
                <a:lnTo>
                  <a:pt x="5419929" y="0"/>
                </a:lnTo>
                <a:lnTo>
                  <a:pt x="5419929" y="1230055"/>
                </a:lnTo>
                <a:lnTo>
                  <a:pt x="0" y="12300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755754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32075" y="224730"/>
            <a:ext cx="19663898" cy="113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7"/>
              </a:lnSpc>
            </a:pPr>
            <a:r>
              <a:rPr lang="en-US" sz="4738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Main Idea</a:t>
            </a:r>
          </a:p>
          <a:p>
            <a:pPr algn="l">
              <a:lnSpc>
                <a:spcPts val="5117"/>
              </a:lnSpc>
            </a:pPr>
          </a:p>
          <a:p>
            <a:pPr algn="l" marL="1023031" indent="-511515" lvl="1">
              <a:lnSpc>
                <a:spcPts val="5117"/>
              </a:lnSpc>
              <a:buFont typeface="Arial"/>
              <a:buChar char="•"/>
            </a:pPr>
            <a:r>
              <a:rPr lang="en-US" sz="47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VRP captures unc</a:t>
            </a:r>
            <a:r>
              <a:rPr lang="en-US" sz="47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</a:t>
            </a:r>
            <a:r>
              <a:rPr lang="en-US" sz="47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tainty about volatil</a:t>
            </a:r>
            <a:r>
              <a:rPr lang="en-US" sz="47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ity, not just volatility itself</a:t>
            </a:r>
          </a:p>
          <a:p>
            <a:pPr algn="l" marL="1023031" indent="-511515" lvl="1">
              <a:lnSpc>
                <a:spcPts val="5117"/>
              </a:lnSpc>
              <a:buFont typeface="Arial"/>
              <a:buChar char="•"/>
            </a:pPr>
            <a:r>
              <a:rPr lang="en-US" sz="47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Investors require compensation for bearing this unce</a:t>
            </a:r>
            <a:r>
              <a:rPr lang="en-US" sz="47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rtainty</a:t>
            </a:r>
          </a:p>
          <a:p>
            <a:pPr algn="l">
              <a:lnSpc>
                <a:spcPts val="4975"/>
              </a:lnSpc>
            </a:pPr>
          </a:p>
          <a:p>
            <a:pPr algn="l">
              <a:lnSpc>
                <a:spcPts val="4975"/>
              </a:lnSpc>
            </a:pPr>
            <a:r>
              <a:rPr lang="en-US" sz="4606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Finding</a:t>
            </a:r>
          </a:p>
          <a:p>
            <a:pPr algn="l" marL="994613" indent="-497306" lvl="1">
              <a:lnSpc>
                <a:spcPts val="4975"/>
              </a:lnSpc>
              <a:buFont typeface="Arial"/>
              <a:buChar char="•"/>
            </a:pPr>
            <a:r>
              <a:rPr lang="en-US" sz="46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Higher VRP is associated</a:t>
            </a:r>
            <a:r>
              <a:rPr lang="en-US" sz="46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with higher future returns</a:t>
            </a:r>
          </a:p>
          <a:p>
            <a:pPr algn="l" marL="994613" indent="-497306" lvl="1">
              <a:lnSpc>
                <a:spcPts val="4975"/>
              </a:lnSpc>
              <a:buFont typeface="Arial"/>
              <a:buChar char="•"/>
            </a:pPr>
            <a:r>
              <a:rPr lang="en-US" sz="46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suggests that </a:t>
            </a:r>
            <a:r>
              <a:rPr lang="en-US" sz="46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VRP</a:t>
            </a:r>
            <a:r>
              <a:rPr lang="en-US" sz="46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acts as a predictor of market returns</a:t>
            </a:r>
          </a:p>
          <a:p>
            <a:pPr algn="l">
              <a:lnSpc>
                <a:spcPts val="4975"/>
              </a:lnSpc>
            </a:pPr>
          </a:p>
          <a:p>
            <a:pPr algn="l">
              <a:lnSpc>
                <a:spcPts val="4975"/>
              </a:lnSpc>
            </a:pPr>
            <a:r>
              <a:rPr lang="en-US" sz="4606" b="true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</a:t>
            </a:r>
            <a:r>
              <a:rPr lang="en-US" sz="46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 marL="994613" indent="-497306" lvl="1">
              <a:lnSpc>
                <a:spcPts val="4975"/>
              </a:lnSpc>
              <a:buFont typeface="Arial"/>
              <a:buChar char="•"/>
            </a:pPr>
            <a:r>
              <a:rPr lang="en-US" sz="46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paper treats VRP as a fixed quantity</a:t>
            </a:r>
          </a:p>
          <a:p>
            <a:pPr algn="l" marL="994613" indent="-497306" lvl="1">
              <a:lnSpc>
                <a:spcPts val="4975"/>
              </a:lnSpc>
              <a:buFont typeface="Arial"/>
              <a:buChar char="•"/>
            </a:pPr>
            <a:r>
              <a:rPr lang="en-US" sz="46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does not account for:</a:t>
            </a:r>
          </a:p>
          <a:p>
            <a:pPr algn="l" marL="1989226" indent="-663075" lvl="2">
              <a:lnSpc>
                <a:spcPts val="4975"/>
              </a:lnSpc>
              <a:buFont typeface="Arial"/>
              <a:buChar char="⚬"/>
            </a:pPr>
            <a:r>
              <a:rPr lang="en-US" sz="46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measurement error in IV and RV</a:t>
            </a:r>
          </a:p>
          <a:p>
            <a:pPr algn="l" marL="1989226" indent="-663075" lvl="2">
              <a:lnSpc>
                <a:spcPts val="4975"/>
              </a:lnSpc>
              <a:buFont typeface="Arial"/>
              <a:buChar char="⚬"/>
            </a:pPr>
            <a:r>
              <a:rPr lang="en-US" sz="46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uncertainty in VRP itself</a:t>
            </a:r>
          </a:p>
          <a:p>
            <a:pPr algn="l">
              <a:lnSpc>
                <a:spcPts val="4975"/>
              </a:lnSpc>
            </a:pPr>
          </a:p>
          <a:p>
            <a:pPr algn="l">
              <a:lnSpc>
                <a:spcPts val="4975"/>
              </a:lnSpc>
            </a:pPr>
          </a:p>
          <a:p>
            <a:pPr algn="just">
              <a:lnSpc>
                <a:spcPts val="4548"/>
              </a:lnSpc>
            </a:pPr>
          </a:p>
          <a:p>
            <a:pPr algn="just">
              <a:lnSpc>
                <a:spcPts val="454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0"/>
            <a:ext cx="15773400" cy="925142"/>
            <a:chOff x="0" y="0"/>
            <a:chExt cx="21031200" cy="1233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233525"/>
            </a:xfrm>
            <a:custGeom>
              <a:avLst/>
              <a:gdLst/>
              <a:ahLst/>
              <a:cxnLst/>
              <a:rect r="r" b="b" t="t" l="l"/>
              <a:pathLst>
                <a:path h="123352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33525"/>
                  </a:lnTo>
                  <a:lnTo>
                    <a:pt x="0" y="1233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722" r="0" b="-2807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2049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7D19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Formulation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38220" y="874679"/>
            <a:ext cx="17376430" cy="868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sz="4483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Title: Is VRP Reliable Under Uncertainty?</a:t>
            </a:r>
          </a:p>
          <a:p>
            <a:pPr algn="l" marL="967954" indent="-483977" lvl="1">
              <a:lnSpc>
                <a:spcPts val="4842"/>
              </a:lnSpc>
              <a:buFont typeface="Arial"/>
              <a:buChar char="•"/>
            </a:pPr>
            <a:r>
              <a:rPr lang="en-US" sz="4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Study the effect of uncertainty in volatility</a:t>
            </a:r>
          </a:p>
          <a:p>
            <a:pPr algn="l" marL="967954" indent="-483977" lvl="1">
              <a:lnSpc>
                <a:spcPts val="4842"/>
              </a:lnSpc>
              <a:buFont typeface="Arial"/>
              <a:buChar char="•"/>
            </a:pPr>
            <a:r>
              <a:rPr lang="en-US" sz="4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Main research question: Can VRP still be trusted when IV and RV contain errors?</a:t>
            </a:r>
          </a:p>
          <a:p>
            <a:pPr algn="l" marL="967954" indent="-483977" lvl="1">
              <a:lnSpc>
                <a:spcPts val="4842"/>
              </a:lnSpc>
              <a:buFont typeface="Arial"/>
              <a:buChar char="•"/>
            </a:pPr>
            <a:r>
              <a:rPr lang="en-US" sz="4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Assumptions:</a:t>
            </a:r>
          </a:p>
          <a:p>
            <a:pPr algn="l" marL="1935907" indent="-645302" lvl="2">
              <a:lnSpc>
                <a:spcPts val="4842"/>
              </a:lnSpc>
              <a:buFont typeface="Arial"/>
              <a:buChar char="⚬"/>
            </a:pPr>
            <a:r>
              <a:rPr lang="en-US" sz="4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IV and RV are noisy measurements</a:t>
            </a:r>
          </a:p>
          <a:p>
            <a:pPr algn="l" marL="1935907" indent="-645302" lvl="2">
              <a:lnSpc>
                <a:spcPts val="4842"/>
              </a:lnSpc>
              <a:buFont typeface="Arial"/>
              <a:buChar char="⚬"/>
            </a:pPr>
            <a:r>
              <a:rPr lang="en-US" sz="4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Noise follows a probabilistic model</a:t>
            </a:r>
          </a:p>
          <a:p>
            <a:pPr algn="l" marL="1935907" indent="-645302" lvl="2">
              <a:lnSpc>
                <a:spcPts val="4842"/>
              </a:lnSpc>
              <a:buFont typeface="Arial"/>
              <a:buChar char="⚬"/>
            </a:pPr>
            <a:r>
              <a:rPr lang="en-US" sz="4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Errors may arise from market fluctuations, estimation, and data issues</a:t>
            </a:r>
          </a:p>
          <a:p>
            <a:pPr algn="l">
              <a:lnSpc>
                <a:spcPts val="4842"/>
              </a:lnSpc>
            </a:pPr>
            <a:r>
              <a:rPr lang="en-US" sz="4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Formula: IV = σ + ε₁ RV = σ + ε₂</a:t>
            </a:r>
          </a:p>
          <a:p>
            <a:pPr algn="l">
              <a:lnSpc>
                <a:spcPts val="4842"/>
              </a:lnSpc>
            </a:pPr>
            <a:r>
              <a:rPr lang="en-US" sz="4483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Where:</a:t>
            </a:r>
          </a:p>
          <a:p>
            <a:pPr algn="l" marL="967954" indent="-483977" lvl="1">
              <a:lnSpc>
                <a:spcPts val="4842"/>
              </a:lnSpc>
              <a:buFont typeface="Arial"/>
              <a:buChar char="•"/>
            </a:pPr>
            <a:r>
              <a:rPr lang="en-US" sz="4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σ = true volatility</a:t>
            </a:r>
          </a:p>
          <a:p>
            <a:pPr algn="l" marL="967954" indent="-483977" lvl="1">
              <a:lnSpc>
                <a:spcPts val="4842"/>
              </a:lnSpc>
              <a:buFont typeface="Arial"/>
              <a:buChar char="•"/>
            </a:pPr>
            <a:r>
              <a:rPr lang="en-US" sz="4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ε₁, ε₂ = uncertainty/error terms</a:t>
            </a:r>
          </a:p>
          <a:p>
            <a:pPr algn="l">
              <a:lnSpc>
                <a:spcPts val="516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0"/>
            <a:ext cx="15773400" cy="925142"/>
            <a:chOff x="0" y="0"/>
            <a:chExt cx="21031200" cy="1233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233525"/>
            </a:xfrm>
            <a:custGeom>
              <a:avLst/>
              <a:gdLst/>
              <a:ahLst/>
              <a:cxnLst/>
              <a:rect r="r" b="b" t="t" l="l"/>
              <a:pathLst>
                <a:path h="123352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33525"/>
                  </a:lnTo>
                  <a:lnTo>
                    <a:pt x="0" y="1233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722" r="0" b="-2807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2049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7D19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Mathematical model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44541" y="1200638"/>
            <a:ext cx="17543459" cy="784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5"/>
              </a:lnSpc>
            </a:pPr>
          </a:p>
          <a:p>
            <a:pPr algn="l">
              <a:lnSpc>
                <a:spcPts val="4675"/>
              </a:lnSpc>
            </a:pPr>
            <a:r>
              <a:rPr lang="en-US" sz="4329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4329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itle: VRP wi</a:t>
            </a:r>
            <a:r>
              <a:rPr lang="en-US" sz="4329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th Uncer</a:t>
            </a:r>
            <a:r>
              <a:rPr lang="en-US" sz="4329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tainty Included</a:t>
            </a:r>
          </a:p>
          <a:p>
            <a:pPr algn="l">
              <a:lnSpc>
                <a:spcPts val="4675"/>
              </a:lnSpc>
            </a:pPr>
          </a:p>
          <a:p>
            <a:pPr algn="l" marL="826753" indent="-413377" lvl="1">
              <a:lnSpc>
                <a:spcPts val="4135"/>
              </a:lnSpc>
              <a:buFont typeface="Arial"/>
              <a:buChar char="•"/>
            </a:pP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 equation: VRP = IV² − RV²</a:t>
            </a:r>
          </a:p>
          <a:p>
            <a:pPr algn="l" marL="826753" indent="-413377" lvl="1">
              <a:lnSpc>
                <a:spcPts val="4135"/>
              </a:lnSpc>
              <a:buFont typeface="Arial"/>
              <a:buChar char="•"/>
            </a:pP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Subst</a:t>
            </a: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itute noisy terms: VRP = (σ + ε₁)² − (σ + ε₂)²</a:t>
            </a:r>
          </a:p>
          <a:p>
            <a:pPr algn="l" marL="826753" indent="-413377" lvl="1">
              <a:lnSpc>
                <a:spcPts val="4135"/>
              </a:lnSpc>
              <a:buFont typeface="Arial"/>
              <a:buChar char="•"/>
            </a:pP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Expanded form: VRP = σ²</a:t>
            </a: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</a:t>
            </a: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2σε₁ + ε₁² − (σ² + 2σε₂ + ε₂²)</a:t>
            </a:r>
          </a:p>
          <a:p>
            <a:pPr algn="l" marL="826753" indent="-413377" lvl="1">
              <a:lnSpc>
                <a:spcPts val="4135"/>
              </a:lnSpc>
              <a:buFont typeface="Arial"/>
              <a:buChar char="•"/>
            </a:pP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Final si</a:t>
            </a: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mplified model:</a:t>
            </a: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VRP = 2σ(ε₁ − ε₂) + (ε₁² − ε₂²)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783"/>
              </a:lnSpc>
            </a:pPr>
            <a:r>
              <a:rPr lang="en-US" sz="4429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Key Insight:</a:t>
            </a:r>
          </a:p>
          <a:p>
            <a:pPr algn="l">
              <a:lnSpc>
                <a:spcPts val="4783"/>
              </a:lnSpc>
            </a:pPr>
          </a:p>
          <a:p>
            <a:pPr algn="l" marL="826753" indent="-413377" lvl="1">
              <a:lnSpc>
                <a:spcPts val="4135"/>
              </a:lnSpc>
              <a:buFont typeface="Arial"/>
              <a:buChar char="•"/>
            </a:pP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VRP is no longer deterministic</a:t>
            </a:r>
          </a:p>
          <a:p>
            <a:pPr algn="l" marL="826753" indent="-413377" lvl="1">
              <a:lnSpc>
                <a:spcPts val="4135"/>
              </a:lnSpc>
              <a:buFont typeface="Arial"/>
              <a:buChar char="•"/>
            </a:pP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depends on random errors</a:t>
            </a:r>
          </a:p>
          <a:p>
            <a:pPr algn="l" marL="826753" indent="-413377" lvl="1">
              <a:lnSpc>
                <a:spcPts val="4135"/>
              </a:lnSpc>
              <a:buFont typeface="Arial"/>
              <a:buChar char="•"/>
            </a:pP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Therefore,</a:t>
            </a:r>
            <a:r>
              <a:rPr lang="en-US" sz="38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 becomes a random variable</a:t>
            </a:r>
          </a:p>
          <a:p>
            <a:pPr algn="just">
              <a:lnSpc>
                <a:spcPts val="463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0"/>
            <a:ext cx="15773400" cy="925142"/>
            <a:chOff x="0" y="0"/>
            <a:chExt cx="21031200" cy="1233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233525"/>
            </a:xfrm>
            <a:custGeom>
              <a:avLst/>
              <a:gdLst/>
              <a:ahLst/>
              <a:cxnLst/>
              <a:rect r="r" b="b" t="t" l="l"/>
              <a:pathLst>
                <a:path h="123352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33525"/>
                  </a:lnTo>
                  <a:lnTo>
                    <a:pt x="0" y="1233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722" r="0" b="-2807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2049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7D19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this matters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9"/>
            <a:chOff x="0" y="0"/>
            <a:chExt cx="5755754" cy="7548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4"/>
            </a:xfrm>
            <a:custGeom>
              <a:avLst/>
              <a:gdLst/>
              <a:ahLst/>
              <a:cxnLst/>
              <a:rect r="r" b="b" t="t" l="l"/>
              <a:pathLst>
                <a:path h="754854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21590" y="1124006"/>
            <a:ext cx="17376430" cy="765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6"/>
              </a:lnSpc>
            </a:pPr>
            <a:r>
              <a:rPr lang="en-US" sz="4283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Title: Det</a:t>
            </a:r>
            <a:r>
              <a:rPr lang="en-US" sz="4283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erministic </a:t>
            </a:r>
            <a:r>
              <a:rPr lang="en-US" sz="4283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to</a:t>
            </a:r>
            <a:r>
              <a:rPr lang="en-US" sz="4283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 Probabilistic Transition</a:t>
            </a:r>
          </a:p>
          <a:p>
            <a:pPr algn="l" marL="924775" indent="-462387" lvl="1">
              <a:lnSpc>
                <a:spcPts val="4626"/>
              </a:lnSpc>
              <a:buFont typeface="Arial"/>
              <a:buChar char="•"/>
            </a:pP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Earlier, VRP had one fix</a:t>
            </a: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 value</a:t>
            </a:r>
          </a:p>
          <a:p>
            <a:pPr algn="l" marL="924775" indent="-462387" lvl="1">
              <a:lnSpc>
                <a:spcPts val="4626"/>
              </a:lnSpc>
              <a:buFont typeface="Arial"/>
              <a:buChar char="•"/>
            </a:pP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After uncertainty:</a:t>
            </a:r>
          </a:p>
          <a:p>
            <a:pPr algn="l" marL="1849549" indent="-616516" lvl="2">
              <a:lnSpc>
                <a:spcPts val="4626"/>
              </a:lnSpc>
              <a:buFont typeface="Arial"/>
              <a:buChar char="⚬"/>
            </a:pP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becomes a distribution of possible values</a:t>
            </a:r>
          </a:p>
          <a:p>
            <a:pPr algn="l" marL="1849549" indent="-616516" lvl="2">
              <a:lnSpc>
                <a:spcPts val="4626"/>
              </a:lnSpc>
              <a:buFont typeface="Arial"/>
              <a:buChar char="⚬"/>
            </a:pP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is sensitive to volatility estimation noise</a:t>
            </a:r>
          </a:p>
          <a:p>
            <a:pPr algn="l" marL="1849549" indent="-616516" lvl="2">
              <a:lnSpc>
                <a:spcPts val="4626"/>
              </a:lnSpc>
              <a:buFont typeface="Arial"/>
              <a:buChar char="⚬"/>
            </a:pP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be</a:t>
            </a: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tter reflects</a:t>
            </a: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real financial markets</a:t>
            </a:r>
          </a:p>
          <a:p>
            <a:pPr algn="l">
              <a:lnSpc>
                <a:spcPts val="4626"/>
              </a:lnSpc>
            </a:pP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Core Formula: VRP ~ Random Variable</a:t>
            </a:r>
          </a:p>
          <a:p>
            <a:pPr algn="l">
              <a:lnSpc>
                <a:spcPts val="4626"/>
              </a:lnSpc>
            </a:pP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Main Transition: Deterministic Model → Probabilistic Model</a:t>
            </a:r>
          </a:p>
          <a:p>
            <a:pPr algn="l">
              <a:lnSpc>
                <a:spcPts val="4626"/>
              </a:lnSpc>
            </a:pPr>
            <a:r>
              <a:rPr lang="en-US" sz="4283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4283">
                <a:solidFill>
                  <a:srgbClr val="7D1916"/>
                </a:solidFill>
                <a:latin typeface="Calibri (MS)"/>
                <a:ea typeface="Calibri (MS)"/>
                <a:cs typeface="Calibri (MS)"/>
                <a:sym typeface="Calibri (MS)"/>
              </a:rPr>
              <a:t>ractical Importance:</a:t>
            </a:r>
          </a:p>
          <a:p>
            <a:pPr algn="l" marL="924775" indent="-462387" lvl="1">
              <a:lnSpc>
                <a:spcPts val="4626"/>
              </a:lnSpc>
              <a:buFont typeface="Arial"/>
              <a:buChar char="•"/>
            </a:pP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Better</a:t>
            </a: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representation of real market behavior</a:t>
            </a:r>
          </a:p>
          <a:p>
            <a:pPr algn="l" marL="924775" indent="-462387" lvl="1">
              <a:lnSpc>
                <a:spcPts val="4626"/>
              </a:lnSpc>
              <a:buFont typeface="Arial"/>
              <a:buChar char="•"/>
            </a:pP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</a:t>
            </a: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risk-aware decision making</a:t>
            </a:r>
          </a:p>
          <a:p>
            <a:pPr algn="l" marL="924775" indent="-462387" lvl="1">
              <a:lnSpc>
                <a:spcPts val="4626"/>
              </a:lnSpc>
              <a:buFont typeface="Arial"/>
              <a:buChar char="•"/>
            </a:pPr>
            <a:r>
              <a:rPr lang="en-US" sz="42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Useful for simulation and bounds analysis</a:t>
            </a:r>
          </a:p>
          <a:p>
            <a:pPr algn="just">
              <a:lnSpc>
                <a:spcPts val="459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3958" y="0"/>
            <a:ext cx="15773400" cy="1281826"/>
            <a:chOff x="0" y="0"/>
            <a:chExt cx="21031200" cy="17091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09101"/>
            </a:xfrm>
            <a:custGeom>
              <a:avLst/>
              <a:gdLst/>
              <a:ahLst/>
              <a:cxnLst/>
              <a:rect r="r" b="b" t="t" l="l"/>
              <a:pathLst>
                <a:path h="1709101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09101"/>
                  </a:lnTo>
                  <a:lnTo>
                    <a:pt x="0" y="17091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771" r="0" b="-18977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6805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Bounds Used in The Problem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051749" y="6144830"/>
            <a:ext cx="3946643" cy="1299855"/>
          </a:xfrm>
          <a:custGeom>
            <a:avLst/>
            <a:gdLst/>
            <a:ahLst/>
            <a:cxnLst/>
            <a:rect r="r" b="b" t="t" l="l"/>
            <a:pathLst>
              <a:path h="1299855" w="3946643">
                <a:moveTo>
                  <a:pt x="0" y="0"/>
                </a:moveTo>
                <a:lnTo>
                  <a:pt x="3946643" y="0"/>
                </a:lnTo>
                <a:lnTo>
                  <a:pt x="3946643" y="1299855"/>
                </a:lnTo>
                <a:lnTo>
                  <a:pt x="0" y="1299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831" r="0" b="-983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2086956"/>
            <a:ext cx="7996370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858" indent="-324929" lvl="1">
              <a:lnSpc>
                <a:spcPts val="3611"/>
              </a:lnSpc>
              <a:buFont typeface="Arial"/>
              <a:buChar char="•"/>
            </a:pPr>
            <a:r>
              <a:rPr lang="en-US" sz="300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Volatility (σ) ≥ 0 (cannot be negative)</a:t>
            </a:r>
          </a:p>
          <a:p>
            <a:pPr algn="l">
              <a:lnSpc>
                <a:spcPts val="3611"/>
              </a:lnSpc>
            </a:pPr>
          </a:p>
          <a:p>
            <a:pPr algn="l" marL="649858" indent="-324929" lvl="1">
              <a:lnSpc>
                <a:spcPts val="3611"/>
              </a:lnSpc>
              <a:buFont typeface="Arial"/>
              <a:buChar char="•"/>
            </a:pPr>
            <a:r>
              <a:rPr lang="en-US" sz="300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VRP lies within observed empirical range</a:t>
            </a:r>
          </a:p>
          <a:p>
            <a:pPr algn="l">
              <a:lnSpc>
                <a:spcPts val="3611"/>
              </a:lnSpc>
            </a:pPr>
          </a:p>
          <a:p>
            <a:pPr algn="l" marL="649858" indent="-324929" lvl="1">
              <a:lnSpc>
                <a:spcPts val="3611"/>
              </a:lnSpc>
              <a:buFont typeface="Arial"/>
              <a:buChar char="•"/>
            </a:pPr>
            <a:r>
              <a:rPr lang="en-US" sz="300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Measurement errors exist in IV and RV</a:t>
            </a:r>
          </a:p>
          <a:p>
            <a:pPr algn="l">
              <a:lnSpc>
                <a:spcPts val="3611"/>
              </a:lnSpc>
            </a:pPr>
          </a:p>
          <a:p>
            <a:pPr algn="l" marL="649858" indent="-324929" lvl="1">
              <a:lnSpc>
                <a:spcPts val="3611"/>
              </a:lnSpc>
              <a:buFont typeface="Arial"/>
              <a:buChar char="•"/>
            </a:pPr>
            <a:r>
              <a:rPr lang="en-US" sz="300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Noise is modeled as:</a:t>
            </a:r>
          </a:p>
          <a:p>
            <a:pPr algn="l">
              <a:lnSpc>
                <a:spcPts val="36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492761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Deterministic Approach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853481" y="5091303"/>
            <a:ext cx="2581039" cy="571813"/>
          </a:xfrm>
          <a:custGeom>
            <a:avLst/>
            <a:gdLst/>
            <a:ahLst/>
            <a:cxnLst/>
            <a:rect r="r" b="b" t="t" l="l"/>
            <a:pathLst>
              <a:path h="571813" w="2581039">
                <a:moveTo>
                  <a:pt x="0" y="0"/>
                </a:moveTo>
                <a:lnTo>
                  <a:pt x="2581038" y="0"/>
                </a:lnTo>
                <a:lnTo>
                  <a:pt x="2581038" y="571813"/>
                </a:lnTo>
                <a:lnTo>
                  <a:pt x="0" y="571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6646" r="0" b="-33316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61916" y="7070682"/>
            <a:ext cx="3364169" cy="590049"/>
          </a:xfrm>
          <a:custGeom>
            <a:avLst/>
            <a:gdLst/>
            <a:ahLst/>
            <a:cxnLst/>
            <a:rect r="r" b="b" t="t" l="l"/>
            <a:pathLst>
              <a:path h="590049" w="3364169">
                <a:moveTo>
                  <a:pt x="0" y="0"/>
                </a:moveTo>
                <a:lnTo>
                  <a:pt x="3364168" y="0"/>
                </a:lnTo>
                <a:lnTo>
                  <a:pt x="3364168" y="590049"/>
                </a:lnTo>
                <a:lnTo>
                  <a:pt x="0" y="590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4049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62581" y="2349791"/>
            <a:ext cx="2058114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Pip</a:t>
            </a:r>
            <a:r>
              <a:rPr lang="en-US" b="true" sz="3800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eline: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9039" y="3314700"/>
            <a:ext cx="8231940" cy="177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310" indent="-315655" lvl="1">
              <a:lnSpc>
                <a:spcPts val="3508"/>
              </a:lnSpc>
              <a:spcBef>
                <a:spcPct val="0"/>
              </a:spcBef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92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ollect VIX (IV) and realized volatility (RV) data</a:t>
            </a:r>
          </a:p>
          <a:p>
            <a:pPr algn="l" marL="631310" indent="-315655" lvl="1">
              <a:lnSpc>
                <a:spcPts val="3508"/>
              </a:lnSpc>
              <a:spcBef>
                <a:spcPct val="0"/>
              </a:spcBef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Convert percentage values to decimal form</a:t>
            </a:r>
          </a:p>
          <a:p>
            <a:pPr algn="l" marL="631310" indent="-315655" lvl="1">
              <a:lnSpc>
                <a:spcPts val="3508"/>
              </a:lnSpc>
              <a:spcBef>
                <a:spcPct val="0"/>
              </a:spcBef>
              <a:buFont typeface="Arial"/>
              <a:buChar char="•"/>
            </a:pPr>
            <a:r>
              <a:rPr lang="en-US" sz="292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Compute variance:</a:t>
            </a:r>
          </a:p>
          <a:p>
            <a:pPr algn="l">
              <a:lnSpc>
                <a:spcPts val="350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994773" y="6174160"/>
            <a:ext cx="307931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269" indent="-314134" lvl="1">
              <a:lnSpc>
                <a:spcPts val="3491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Calc</a:t>
            </a:r>
            <a:r>
              <a:rPr lang="en-US" sz="29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ulate VRP: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94773" y="8168668"/>
            <a:ext cx="52645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269" indent="-314134" lvl="1">
              <a:lnSpc>
                <a:spcPts val="3491"/>
              </a:lnSpc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</a:t>
            </a:r>
            <a:r>
              <a:rPr lang="en-US" sz="29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alyze using PDF and CDF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498358"/>
            <a:ext cx="15773400" cy="980457"/>
            <a:chOff x="0" y="0"/>
            <a:chExt cx="21031200" cy="1307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307278"/>
            </a:xfrm>
            <a:custGeom>
              <a:avLst/>
              <a:gdLst/>
              <a:ahLst/>
              <a:cxnLst/>
              <a:rect r="r" b="b" t="t" l="l"/>
              <a:pathLst>
                <a:path h="130727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07278"/>
                  </a:lnTo>
                  <a:lnTo>
                    <a:pt x="0" y="1307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6120" r="0" b="-28082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27870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Deterministic is Insufficient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2081894"/>
            <a:ext cx="81942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9"/>
              </a:lnSpc>
              <a:spcBef>
                <a:spcPct val="0"/>
              </a:spcBef>
            </a:pPr>
            <a:r>
              <a:rPr lang="en-US" b="true" sz="3549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Determinis</a:t>
            </a:r>
            <a:r>
              <a:rPr lang="en-US" b="true" sz="3549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tic App</a:t>
            </a:r>
            <a:r>
              <a:rPr lang="en-US" b="true" sz="3549">
                <a:solidFill>
                  <a:srgbClr val="7D19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roach is Insufficient 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3308" y="3377294"/>
            <a:ext cx="7805023" cy="437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269" indent="-314134" lvl="1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9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 variability in output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</a:p>
          <a:p>
            <a:pPr algn="l" marL="628269" indent="-314134" lvl="1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Cannot capture real-world uncertainty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</a:p>
          <a:p>
            <a:pPr algn="l" marL="628269" indent="-314134" lvl="1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Ignores measurement noise in IV and R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</a:p>
          <a:p>
            <a:pPr algn="l" marL="628269" indent="-314134" lvl="1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Leads to biased or overconfident predictions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</a:p>
          <a:p>
            <a:pPr algn="l" marL="628269" indent="-314134" lvl="1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sz="29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Fails to model stochastic market behavior</a:t>
            </a:r>
          </a:p>
          <a:p>
            <a:pPr algn="l">
              <a:lnSpc>
                <a:spcPts val="349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144802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Randomized Approach Overview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29885"/>
            <a:chOff x="0" y="0"/>
            <a:chExt cx="1102246" cy="7065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06516"/>
            </a:xfrm>
            <a:custGeom>
              <a:avLst/>
              <a:gdLst/>
              <a:ahLst/>
              <a:cxnLst/>
              <a:rect r="r" b="b" t="t" l="l"/>
              <a:pathLst>
                <a:path h="706516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06516"/>
                  </a:lnTo>
                  <a:lnTo>
                    <a:pt x="0" y="7065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-684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06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3460" y="1822031"/>
            <a:ext cx="16721080" cy="656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6786" indent="-443393" lvl="1">
              <a:lnSpc>
                <a:spcPts val="7393"/>
              </a:lnSpc>
              <a:buFont typeface="Arial"/>
              <a:buChar char="•"/>
            </a:pPr>
            <a:r>
              <a:rPr lang="en-US" sz="410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Every iteration introduces fresh stochastic noise, exploring a different region of the uncertainty space</a:t>
            </a:r>
          </a:p>
          <a:p>
            <a:pPr algn="l" marL="886786" indent="-443393" lvl="1">
              <a:lnSpc>
                <a:spcPts val="7393"/>
              </a:lnSpc>
              <a:buFont typeface="Arial"/>
              <a:buChar char="•"/>
            </a:pPr>
            <a:r>
              <a:rPr lang="en-US" sz="410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final output is a probabilistic map of all possible VRP outcomes under measurement noise</a:t>
            </a:r>
          </a:p>
          <a:p>
            <a:pPr algn="l" marL="886786" indent="-443393" lvl="1">
              <a:lnSpc>
                <a:spcPts val="7393"/>
              </a:lnSpc>
              <a:buFont typeface="Arial"/>
              <a:buChar char="•"/>
            </a:pPr>
            <a:r>
              <a:rPr lang="en-US" sz="410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Gaussian noise is embedded inside every iteration, randomness is not just an input but a core computational mechanism</a:t>
            </a:r>
          </a:p>
          <a:p>
            <a:pPr algn="l" marL="886786" indent="-443393" lvl="1">
              <a:lnSpc>
                <a:spcPts val="7393"/>
              </a:lnSpc>
              <a:buFont typeface="Arial"/>
              <a:buChar char="•"/>
            </a:pPr>
            <a:r>
              <a:rPr lang="en-US" sz="410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Randomness drives how VRP is generated, not just how data is sampled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144802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Randomised Algorithm Approaches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62581" y="1766991"/>
            <a:ext cx="14055379" cy="749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387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Randomized Strategy </a:t>
            </a:r>
          </a:p>
          <a:p>
            <a:pPr algn="l">
              <a:lnSpc>
                <a:spcPts val="4188"/>
              </a:lnSpc>
            </a:pPr>
          </a:p>
          <a:p>
            <a:pPr algn="l">
              <a:lnSpc>
                <a:spcPts val="4188"/>
              </a:lnSpc>
            </a:pPr>
            <a:r>
              <a:rPr lang="en-US" sz="387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87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1:</a:t>
            </a:r>
            <a:r>
              <a:rPr lang="en-US" sz="387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Bootstrap</a:t>
            </a:r>
          </a:p>
          <a:p>
            <a:pPr algn="l" marL="837301" indent="-418651" lvl="1">
              <a:lnSpc>
                <a:spcPts val="4188"/>
              </a:lnSpc>
              <a:buFont typeface="Arial"/>
              <a:buChar char="•"/>
            </a:pP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mple 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VRP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om d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tas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</a:p>
          <a:p>
            <a:pPr algn="l" marL="837301" indent="-418651" lvl="1">
              <a:lnSpc>
                <a:spcPts val="4188"/>
              </a:lnSpc>
              <a:buFont typeface="Arial"/>
              <a:buChar char="•"/>
            </a:pP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</a:t>
            </a: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multiple samples</a:t>
            </a:r>
          </a:p>
          <a:p>
            <a:pPr algn="l" marL="837301" indent="-418651" lvl="1">
              <a:lnSpc>
                <a:spcPts val="4188"/>
              </a:lnSpc>
              <a:buFont typeface="Arial"/>
              <a:buChar char="•"/>
            </a:pP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Limitation: no new values created</a:t>
            </a:r>
          </a:p>
          <a:p>
            <a:pPr algn="l" marL="837301" indent="-418651" lvl="1">
              <a:lnSpc>
                <a:spcPts val="4188"/>
              </a:lnSpc>
              <a:buFont typeface="Arial"/>
              <a:buChar char="•"/>
            </a:pP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Captures Data Variability</a:t>
            </a:r>
          </a:p>
          <a:p>
            <a:pPr algn="l">
              <a:lnSpc>
                <a:spcPts val="4188"/>
              </a:lnSpc>
            </a:pPr>
          </a:p>
          <a:p>
            <a:pPr algn="l">
              <a:lnSpc>
                <a:spcPts val="4188"/>
              </a:lnSpc>
            </a:pPr>
            <a:r>
              <a:rPr lang="en-US" sz="387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2: Monte Carlo</a:t>
            </a:r>
          </a:p>
          <a:p>
            <a:pPr algn="l" marL="837301" indent="-418651" lvl="1">
              <a:lnSpc>
                <a:spcPts val="4188"/>
              </a:lnSpc>
              <a:buFont typeface="Arial"/>
              <a:buChar char="•"/>
            </a:pP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Sample synthetic noise from Gaussian distribution</a:t>
            </a:r>
          </a:p>
          <a:p>
            <a:pPr algn="l" marL="837301" indent="-418651" lvl="1">
              <a:lnSpc>
                <a:spcPts val="4188"/>
              </a:lnSpc>
              <a:buFont typeface="Arial"/>
              <a:buChar char="•"/>
            </a:pP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Generates new VRP values </a:t>
            </a:r>
          </a:p>
          <a:p>
            <a:pPr algn="l" marL="837301" indent="-418651" lvl="1">
              <a:lnSpc>
                <a:spcPts val="4188"/>
              </a:lnSpc>
              <a:buFont typeface="Arial"/>
              <a:buChar char="•"/>
            </a:pP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Recompute IV, RV, VRP each iteration</a:t>
            </a:r>
          </a:p>
          <a:p>
            <a:pPr algn="l" marL="837301" indent="-418651" lvl="1">
              <a:lnSpc>
                <a:spcPts val="4188"/>
              </a:lnSpc>
              <a:buFont typeface="Arial"/>
              <a:buChar char="•"/>
            </a:pPr>
            <a:r>
              <a:rPr lang="en-US" sz="38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Repeat many times</a:t>
            </a:r>
          </a:p>
          <a:p>
            <a:pPr algn="l">
              <a:lnSpc>
                <a:spcPts val="5313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144802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Randomized Algorithm Overview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38220" y="2026738"/>
            <a:ext cx="17676335" cy="766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1"/>
              </a:lnSpc>
            </a:pPr>
            <a:r>
              <a:rPr lang="en-US" sz="4184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Monte Carlo Simulation Procedure</a:t>
            </a:r>
          </a:p>
          <a:p>
            <a:pPr algn="l" marL="903496" indent="-451748" lvl="1">
              <a:lnSpc>
                <a:spcPts val="5021"/>
              </a:lnSpc>
              <a:buAutoNum type="arabicPeriod" startAt="1"/>
            </a:pPr>
            <a:r>
              <a:rPr lang="en-US" sz="41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Sample error terms εIV,εRV</a:t>
            </a:r>
          </a:p>
          <a:p>
            <a:pPr algn="l" marL="903496" indent="-451748" lvl="1">
              <a:lnSpc>
                <a:spcPts val="5021"/>
              </a:lnSpc>
              <a:buAutoNum type="arabicPeriod" startAt="1"/>
            </a:pPr>
            <a:r>
              <a:rPr lang="en-US" sz="41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Construct IV and RV using sampled errors</a:t>
            </a:r>
          </a:p>
          <a:p>
            <a:pPr algn="l" marL="903496" indent="-451748" lvl="1">
              <a:lnSpc>
                <a:spcPts val="5021"/>
              </a:lnSpc>
              <a:buAutoNum type="arabicPeriod" startAt="1"/>
            </a:pPr>
            <a:r>
              <a:rPr lang="en-US" sz="41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 for the formulas</a:t>
            </a:r>
          </a:p>
          <a:p>
            <a:pPr algn="l" marL="903496" indent="-451748" lvl="1">
              <a:lnSpc>
                <a:spcPts val="5021"/>
              </a:lnSpc>
              <a:buAutoNum type="arabicPeriod" startAt="1"/>
            </a:pPr>
            <a:r>
              <a:rPr lang="en-US" sz="41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Repeat for multiple iterations</a:t>
            </a:r>
          </a:p>
          <a:p>
            <a:pPr algn="l">
              <a:lnSpc>
                <a:spcPts val="5021"/>
              </a:lnSpc>
            </a:pPr>
          </a:p>
          <a:p>
            <a:pPr algn="l">
              <a:lnSpc>
                <a:spcPts val="5021"/>
              </a:lnSpc>
            </a:pPr>
          </a:p>
          <a:p>
            <a:pPr algn="l">
              <a:lnSpc>
                <a:spcPts val="5021"/>
              </a:lnSpc>
            </a:pPr>
            <a:r>
              <a:rPr lang="en-US" sz="4184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</a:t>
            </a:r>
          </a:p>
          <a:p>
            <a:pPr algn="l" marL="903496" indent="-451748" lvl="1">
              <a:lnSpc>
                <a:spcPts val="5021"/>
              </a:lnSpc>
              <a:buFont typeface="Arial"/>
              <a:buChar char="•"/>
            </a:pPr>
            <a:r>
              <a:rPr lang="en-US" sz="41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 multiple simulated VRP values, so VRP becomes a random variable</a:t>
            </a:r>
          </a:p>
          <a:p>
            <a:pPr algn="l" marL="903496" indent="-451748" lvl="1">
              <a:lnSpc>
                <a:spcPts val="5021"/>
              </a:lnSpc>
              <a:buFont typeface="Arial"/>
              <a:buChar char="•"/>
            </a:pPr>
            <a:r>
              <a:rPr lang="en-US" sz="41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Captures uncertainty due to measurement error</a:t>
            </a:r>
          </a:p>
          <a:p>
            <a:pPr algn="l">
              <a:lnSpc>
                <a:spcPts val="5021"/>
              </a:lnSpc>
            </a:pPr>
          </a:p>
          <a:p>
            <a:pPr algn="l">
              <a:lnSpc>
                <a:spcPts val="5021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62581" y="224178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Work Flow of Monte Carlo Simlulation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701170" y="1611543"/>
            <a:ext cx="10885661" cy="809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True IV + ε_IV  -&gt;  Noisy IV</a:t>
            </a:r>
          </a:p>
          <a:p>
            <a:pPr algn="l">
              <a:lnSpc>
                <a:spcPts val="6326"/>
              </a:lnSpc>
            </a:pP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</a:t>
            </a: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Tru</a:t>
            </a: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 RV + ε_RV  -&gt;  Noisy RV</a:t>
            </a:r>
          </a:p>
          <a:p>
            <a:pPr algn="l">
              <a:lnSpc>
                <a:spcPts val="6326"/>
              </a:lnSpc>
            </a:pP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              |</a:t>
            </a:r>
          </a:p>
          <a:p>
            <a:pPr algn="l">
              <a:lnSpc>
                <a:spcPts val="6326"/>
              </a:lnSpc>
            </a:pP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VRP = N</a:t>
            </a: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oisy IV² − Noisy RV²</a:t>
            </a:r>
          </a:p>
          <a:p>
            <a:pPr algn="l">
              <a:lnSpc>
                <a:spcPts val="6326"/>
              </a:lnSpc>
            </a:pP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              |</a:t>
            </a:r>
          </a:p>
          <a:p>
            <a:pPr algn="l">
              <a:lnSpc>
                <a:spcPts val="6326"/>
              </a:lnSpc>
            </a:pP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Repeat 1000 times</a:t>
            </a:r>
          </a:p>
          <a:p>
            <a:pPr algn="l">
              <a:lnSpc>
                <a:spcPts val="6326"/>
              </a:lnSpc>
            </a:pP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              |</a:t>
            </a:r>
          </a:p>
          <a:p>
            <a:pPr algn="l">
              <a:lnSpc>
                <a:spcPts val="6326"/>
              </a:lnSpc>
            </a:pP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Distribution of VRP outcomes</a:t>
            </a:r>
          </a:p>
          <a:p>
            <a:pPr algn="l">
              <a:lnSpc>
                <a:spcPts val="6326"/>
              </a:lnSpc>
            </a:pP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              |</a:t>
            </a:r>
          </a:p>
          <a:p>
            <a:pPr algn="l">
              <a:lnSpc>
                <a:spcPts val="6326"/>
              </a:lnSpc>
            </a:pPr>
            <a:r>
              <a:rPr lang="en-US" sz="527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Generate PDF &amp; CDF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144802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Graph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2377440"/>
            <a:ext cx="10162162" cy="5532120"/>
          </a:xfrm>
          <a:custGeom>
            <a:avLst/>
            <a:gdLst/>
            <a:ahLst/>
            <a:cxnLst/>
            <a:rect r="r" b="b" t="t" l="l"/>
            <a:pathLst>
              <a:path h="5532120" w="10162162">
                <a:moveTo>
                  <a:pt x="0" y="0"/>
                </a:moveTo>
                <a:lnTo>
                  <a:pt x="10162162" y="0"/>
                </a:lnTo>
                <a:lnTo>
                  <a:pt x="10162162" y="5532120"/>
                </a:lnTo>
                <a:lnTo>
                  <a:pt x="0" y="5532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7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574284" y="1957387"/>
            <a:ext cx="6334573" cy="712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Observations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VRP shows high fluctuations over time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Presence of b</a:t>
            </a: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oth positive and negative spikes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 stable level show non-stationary be</a:t>
            </a: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havior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Occasional large negative drops and sharp positive jumps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Interpretation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Positive spikes signify market expects higher future volatility than realized (experienced)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Negative spikes show realized volatility exceeds market expectations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Frequent sign changes are a sign of unstable volatility expectations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Large spikes inficate impact of measurement error and market shocks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144802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Graph Comparison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57300" y="2199919"/>
            <a:ext cx="7450775" cy="5887162"/>
          </a:xfrm>
          <a:custGeom>
            <a:avLst/>
            <a:gdLst/>
            <a:ahLst/>
            <a:cxnLst/>
            <a:rect r="r" b="b" t="t" l="l"/>
            <a:pathLst>
              <a:path h="5887162" w="7450775">
                <a:moveTo>
                  <a:pt x="0" y="0"/>
                </a:moveTo>
                <a:lnTo>
                  <a:pt x="7450775" y="0"/>
                </a:lnTo>
                <a:lnTo>
                  <a:pt x="7450775" y="5887162"/>
                </a:lnTo>
                <a:lnTo>
                  <a:pt x="0" y="5887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913466" y="2199919"/>
            <a:ext cx="7345834" cy="5887162"/>
          </a:xfrm>
          <a:custGeom>
            <a:avLst/>
            <a:gdLst/>
            <a:ahLst/>
            <a:cxnLst/>
            <a:rect r="r" b="b" t="t" l="l"/>
            <a:pathLst>
              <a:path h="5887162" w="7345834">
                <a:moveTo>
                  <a:pt x="0" y="0"/>
                </a:moveTo>
                <a:lnTo>
                  <a:pt x="7345834" y="0"/>
                </a:lnTo>
                <a:lnTo>
                  <a:pt x="7345834" y="5887162"/>
                </a:lnTo>
                <a:lnTo>
                  <a:pt x="0" y="5887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144802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Graph Comparison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2003258"/>
            <a:ext cx="7398351" cy="5889339"/>
          </a:xfrm>
          <a:custGeom>
            <a:avLst/>
            <a:gdLst/>
            <a:ahLst/>
            <a:cxnLst/>
            <a:rect r="r" b="b" t="t" l="l"/>
            <a:pathLst>
              <a:path h="5889339" w="7398351">
                <a:moveTo>
                  <a:pt x="0" y="0"/>
                </a:moveTo>
                <a:lnTo>
                  <a:pt x="7398351" y="0"/>
                </a:lnTo>
                <a:lnTo>
                  <a:pt x="7398351" y="5889339"/>
                </a:lnTo>
                <a:lnTo>
                  <a:pt x="0" y="58893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886185" y="2104649"/>
            <a:ext cx="7373115" cy="5787948"/>
          </a:xfrm>
          <a:custGeom>
            <a:avLst/>
            <a:gdLst/>
            <a:ahLst/>
            <a:cxnLst/>
            <a:rect r="r" b="b" t="t" l="l"/>
            <a:pathLst>
              <a:path h="5787948" w="7373115">
                <a:moveTo>
                  <a:pt x="0" y="0"/>
                </a:moveTo>
                <a:lnTo>
                  <a:pt x="7373115" y="0"/>
                </a:lnTo>
                <a:lnTo>
                  <a:pt x="7373115" y="5787948"/>
                </a:lnTo>
                <a:lnTo>
                  <a:pt x="0" y="5787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-472965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Domain Perspective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57656" y="847725"/>
            <a:ext cx="15273044" cy="874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0"/>
              </a:lnSpc>
            </a:pPr>
            <a:r>
              <a:rPr lang="en-US" sz="341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Insights</a:t>
            </a:r>
          </a:p>
          <a:p>
            <a:pPr algn="l" marL="737719" indent="-368859" lvl="1">
              <a:lnSpc>
                <a:spcPts val="4100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VRP is</a:t>
            </a: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not a pure risk signal</a:t>
            </a:r>
          </a:p>
          <a:p>
            <a:pPr algn="l" marL="737719" indent="-368859" lvl="1">
              <a:lnSpc>
                <a:spcPts val="4100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contains actual market risk along with measurement error</a:t>
            </a:r>
          </a:p>
          <a:p>
            <a:pPr algn="l">
              <a:lnSpc>
                <a:spcPts val="4100"/>
              </a:lnSpc>
            </a:pPr>
          </a:p>
          <a:p>
            <a:pPr algn="l">
              <a:lnSpc>
                <a:spcPts val="4100"/>
              </a:lnSpc>
            </a:pPr>
            <a:r>
              <a:rPr lang="en-US" sz="341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Real-World Interpretation</a:t>
            </a:r>
          </a:p>
          <a:p>
            <a:pPr algn="l" marL="737719" indent="-368859" lvl="1">
              <a:lnSpc>
                <a:spcPts val="4100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Positive VRP - </a:t>
            </a: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Market overestimates risk (fear, uncertainty)</a:t>
            </a:r>
          </a:p>
          <a:p>
            <a:pPr algn="l" marL="737719" indent="-368859" lvl="1">
              <a:lnSpc>
                <a:spcPts val="4100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Negative VRP - Market underestimates risk (unexpected shocks)</a:t>
            </a:r>
          </a:p>
          <a:p>
            <a:pPr algn="l">
              <a:lnSpc>
                <a:spcPts val="4100"/>
              </a:lnSpc>
            </a:pPr>
          </a:p>
          <a:p>
            <a:pPr algn="l">
              <a:lnSpc>
                <a:spcPts val="4100"/>
              </a:lnSpc>
            </a:pPr>
            <a:r>
              <a:rPr lang="en-US" sz="341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Why This Matters</a:t>
            </a:r>
          </a:p>
          <a:p>
            <a:pPr algn="l" marL="737719" indent="-368859" lvl="1">
              <a:lnSpc>
                <a:spcPts val="4100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Single VRP value can be misleading</a:t>
            </a:r>
          </a:p>
          <a:p>
            <a:pPr algn="l" marL="737719" indent="-368859" lvl="1">
              <a:lnSpc>
                <a:spcPts val="4100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Incorrect investment decisions</a:t>
            </a:r>
          </a:p>
          <a:p>
            <a:pPr algn="l" marL="737719" indent="-368859" lvl="1">
              <a:lnSpc>
                <a:spcPts val="4100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Poor</a:t>
            </a: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risk estimation</a:t>
            </a:r>
          </a:p>
          <a:p>
            <a:pPr algn="l">
              <a:lnSpc>
                <a:spcPts val="4100"/>
              </a:lnSpc>
            </a:pPr>
          </a:p>
          <a:p>
            <a:pPr algn="l">
              <a:lnSpc>
                <a:spcPts val="4100"/>
              </a:lnSpc>
            </a:pPr>
            <a:r>
              <a:rPr lang="en-US" sz="341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</a:t>
            </a:r>
            <a:r>
              <a:rPr lang="en-US" sz="341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 Contribution</a:t>
            </a:r>
          </a:p>
          <a:p>
            <a:pPr algn="l" marL="737719" indent="-368859" lvl="1">
              <a:lnSpc>
                <a:spcPts val="4100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Inste</a:t>
            </a: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 of one value we modeled VRP as a distribution</a:t>
            </a:r>
          </a:p>
          <a:p>
            <a:pPr algn="l" marL="737719" indent="-368859" lvl="1">
              <a:lnSpc>
                <a:spcPts val="4100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Captures range of possible risks, not just one estimate</a:t>
            </a:r>
          </a:p>
          <a:p>
            <a:pPr algn="l">
              <a:lnSpc>
                <a:spcPts val="410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-500129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Computer Science Perspective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62581" y="649822"/>
            <a:ext cx="14668319" cy="910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28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 Insight</a:t>
            </a:r>
          </a:p>
          <a:p>
            <a:pPr algn="l" marL="708509" indent="-354255" lvl="1">
              <a:lnSpc>
                <a:spcPts val="3937"/>
              </a:lnSpc>
              <a:buFont typeface="Arial"/>
              <a:buChar char="•"/>
            </a:pP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Real-world data is</a:t>
            </a: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noisy and uncertain</a:t>
            </a:r>
          </a:p>
          <a:p>
            <a:pPr algn="l" marL="708509" indent="-354255" lvl="1">
              <a:lnSpc>
                <a:spcPts val="3937"/>
              </a:lnSpc>
              <a:buFont typeface="Arial"/>
              <a:buChar char="•"/>
            </a:pP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Deterministic models generally ignores noise leading to unstable outputs</a:t>
            </a:r>
          </a:p>
          <a:p>
            <a:pPr algn="l">
              <a:lnSpc>
                <a:spcPts val="3937"/>
              </a:lnSpc>
            </a:pPr>
          </a:p>
          <a:p>
            <a:pPr algn="l">
              <a:lnSpc>
                <a:spcPts val="3937"/>
              </a:lnSpc>
            </a:pPr>
            <a:r>
              <a:rPr lang="en-US" sz="328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in M3</a:t>
            </a:r>
          </a:p>
          <a:p>
            <a:pPr algn="l" marL="708509" indent="-354255" lvl="1">
              <a:lnSpc>
                <a:spcPts val="3937"/>
              </a:lnSpc>
              <a:buFont typeface="Arial"/>
              <a:buChar char="•"/>
            </a:pP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Single output → loss of information</a:t>
            </a:r>
          </a:p>
          <a:p>
            <a:pPr algn="l" marL="708509" indent="-354255" lvl="1">
              <a:lnSpc>
                <a:spcPts val="3937"/>
              </a:lnSpc>
              <a:buFont typeface="Arial"/>
              <a:buChar char="•"/>
            </a:pP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Cannot </a:t>
            </a: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represent uncertainty</a:t>
            </a:r>
          </a:p>
          <a:p>
            <a:pPr algn="l">
              <a:lnSpc>
                <a:spcPts val="3937"/>
              </a:lnSpc>
            </a:pPr>
          </a:p>
          <a:p>
            <a:pPr algn="l">
              <a:lnSpc>
                <a:spcPts val="3937"/>
              </a:lnSpc>
            </a:pPr>
            <a:r>
              <a:rPr lang="en-US" sz="328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</a:t>
            </a:r>
            <a:r>
              <a:rPr lang="en-US" sz="328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 Solution (M4)</a:t>
            </a:r>
          </a:p>
          <a:p>
            <a:pPr algn="l" marL="708509" indent="-354255" lvl="1">
              <a:lnSpc>
                <a:spcPts val="3937"/>
              </a:lnSpc>
              <a:buFont typeface="Arial"/>
              <a:buChar char="•"/>
            </a:pP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Introduced Monte Carlo randomization</a:t>
            </a:r>
          </a:p>
          <a:p>
            <a:pPr algn="l" marL="708509" indent="-354255" lvl="1">
              <a:lnSpc>
                <a:spcPts val="3937"/>
              </a:lnSpc>
              <a:buFont typeface="Arial"/>
              <a:buChar char="•"/>
            </a:pP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enerated multiple VRP outcomes</a:t>
            </a:r>
          </a:p>
          <a:p>
            <a:pPr algn="l" marL="708509" indent="-354255" lvl="1">
              <a:lnSpc>
                <a:spcPts val="3937"/>
              </a:lnSpc>
              <a:buFont typeface="Arial"/>
              <a:buChar char="•"/>
            </a:pP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Output changed from single value to a probability distribution</a:t>
            </a:r>
          </a:p>
          <a:p>
            <a:pPr algn="l">
              <a:lnSpc>
                <a:spcPts val="3937"/>
              </a:lnSpc>
            </a:pPr>
          </a:p>
          <a:p>
            <a:pPr algn="l">
              <a:lnSpc>
                <a:spcPts val="3937"/>
              </a:lnSpc>
            </a:pPr>
            <a:r>
              <a:rPr lang="en-US" sz="328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</a:t>
            </a:r>
            <a:r>
              <a:rPr lang="en-US" sz="328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act</a:t>
            </a:r>
          </a:p>
          <a:p>
            <a:pPr algn="l" marL="708509" indent="-354255" lvl="1">
              <a:lnSpc>
                <a:spcPts val="3937"/>
              </a:lnSpc>
              <a:buFont typeface="Arial"/>
              <a:buChar char="•"/>
            </a:pP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Better robustness</a:t>
            </a:r>
          </a:p>
          <a:p>
            <a:pPr algn="l" marL="708509" indent="-354255" lvl="1">
              <a:lnSpc>
                <a:spcPts val="3937"/>
              </a:lnSpc>
              <a:buFont typeface="Arial"/>
              <a:buChar char="•"/>
            </a:pP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More r</a:t>
            </a: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eliability</a:t>
            </a:r>
          </a:p>
          <a:p>
            <a:pPr algn="l" marL="708509" indent="-354255" lvl="1">
              <a:lnSpc>
                <a:spcPts val="3937"/>
              </a:lnSpc>
              <a:buFont typeface="Arial"/>
              <a:buChar char="•"/>
            </a:pP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Increased r</a:t>
            </a:r>
            <a:r>
              <a:rPr lang="en-US" sz="32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eal-world applicability</a:t>
            </a:r>
          </a:p>
          <a:p>
            <a:pPr algn="l">
              <a:lnSpc>
                <a:spcPts val="3937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-517355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62581" y="329440"/>
            <a:ext cx="15887087" cy="1020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b="true" sz="320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Base Research Paper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 marL="691630" indent="-345815" lvl="1">
              <a:lnSpc>
                <a:spcPts val="3844"/>
              </a:lnSpc>
              <a:spcBef>
                <a:spcPct val="0"/>
              </a:spcBef>
              <a:buFont typeface="Arial"/>
              <a:buChar char="•"/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Core framework linking VRP to future stock returns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b="true" sz="320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Academic Lecture Notes (Financial Theory)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https://pages.stern.nyu.edu/~sfiglews/documents/Figlewski Class Notes for Futures and Options UG Spring18-full set.pdf</a:t>
            </a:r>
          </a:p>
          <a:p>
            <a:pPr algn="l" marL="691630" indent="-345815" lvl="1">
              <a:lnSpc>
                <a:spcPts val="3844"/>
              </a:lnSpc>
              <a:spcBef>
                <a:spcPct val="0"/>
              </a:spcBef>
              <a:buFont typeface="Arial"/>
              <a:buChar char="•"/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Derivatives pricing, volatility, and risk premia concepts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https://ocw.mit.edu/courses/15-450-analytics-of-finance-fall-2010/4fa033082ff5ee58722a67fe81f0dce7_MIT15_450F10_lec03.pdf</a:t>
            </a:r>
          </a:p>
          <a:p>
            <a:pPr algn="l" marL="691630" indent="-345815" lvl="1">
              <a:lnSpc>
                <a:spcPts val="3844"/>
              </a:lnSpc>
              <a:spcBef>
                <a:spcPct val="0"/>
              </a:spcBef>
              <a:buFont typeface="Arial"/>
              <a:buChar char="•"/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Introduction to volatility, risk-return relationships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https://ocw.mit.edu/courses/15-450-analytics-of-finance-fall-2010/3894e9e72ac0f3d1c98d43323a104fec_MIT15_450F10_lec09.pdf</a:t>
            </a:r>
          </a:p>
          <a:p>
            <a:pPr algn="l" marL="691630" indent="-345815" lvl="1">
              <a:lnSpc>
                <a:spcPts val="3844"/>
              </a:lnSpc>
              <a:spcBef>
                <a:spcPct val="0"/>
              </a:spcBef>
              <a:buFont typeface="Arial"/>
              <a:buChar char="•"/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Advanced concepts in risk premia and stochastic modeling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ctr">
              <a:lnSpc>
                <a:spcPts val="38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-517355"/>
            <a:ext cx="15773400" cy="1320690"/>
            <a:chOff x="0" y="0"/>
            <a:chExt cx="21031200" cy="1760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760922"/>
            </a:xfrm>
            <a:custGeom>
              <a:avLst/>
              <a:gdLst/>
              <a:ahLst/>
              <a:cxnLst/>
              <a:rect r="r" b="b" t="t" l="l"/>
              <a:pathLst>
                <a:path h="17609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60922"/>
                  </a:lnTo>
                  <a:lnTo>
                    <a:pt x="0" y="17609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715" r="0" b="-182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031200" cy="17323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500" b="true">
                  <a:solidFill>
                    <a:srgbClr val="801B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03-02-2026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62581" y="277935"/>
            <a:ext cx="15887087" cy="922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b="true" sz="320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 Financial Data Concepts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https://www.cboe.com/tradable-products/vix</a:t>
            </a:r>
          </a:p>
          <a:p>
            <a:pPr algn="l" marL="691630" indent="-345815" lvl="1">
              <a:lnSpc>
                <a:spcPts val="3844"/>
              </a:lnSpc>
              <a:spcBef>
                <a:spcPct val="0"/>
              </a:spcBef>
              <a:buFont typeface="Arial"/>
              <a:buChar char="•"/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CBOE Volatility Index (VIX)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https://finance.yahoo.com/</a:t>
            </a:r>
          </a:p>
          <a:p>
            <a:pPr algn="l" marL="691630" indent="-345815" lvl="1">
              <a:lnSpc>
                <a:spcPts val="3844"/>
              </a:lnSpc>
              <a:spcBef>
                <a:spcPct val="0"/>
              </a:spcBef>
              <a:buFont typeface="Arial"/>
              <a:buChar char="•"/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S&amp;P 500 Index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b="true" sz="320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 Statistical &amp; Simulation Methods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https://online.stat.psu.edu/stat200/lesson/12</a:t>
            </a:r>
          </a:p>
          <a:p>
            <a:pPr algn="l" marL="691630" indent="-345815" lvl="1">
              <a:lnSpc>
                <a:spcPts val="3844"/>
              </a:lnSpc>
              <a:spcBef>
                <a:spcPct val="0"/>
              </a:spcBef>
              <a:buFont typeface="Arial"/>
              <a:buChar char="•"/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Bootstrap Sampling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l">
              <a:lnSpc>
                <a:spcPts val="3844"/>
              </a:lnSpc>
              <a:spcBef>
                <a:spcPct val="0"/>
              </a:spcBef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https://www.investopedia.com/terms/m/montecarlosimulation.asp</a:t>
            </a:r>
          </a:p>
          <a:p>
            <a:pPr algn="l" marL="691630" indent="-345815" lvl="1">
              <a:lnSpc>
                <a:spcPts val="3844"/>
              </a:lnSpc>
              <a:spcBef>
                <a:spcPct val="0"/>
              </a:spcBef>
              <a:buFont typeface="Arial"/>
              <a:buChar char="•"/>
            </a:pPr>
            <a:r>
              <a:rPr lang="en-US" sz="3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Monte Carlo Simulation</a:t>
            </a:r>
          </a:p>
          <a:p>
            <a:pPr algn="l">
              <a:lnSpc>
                <a:spcPts val="3844"/>
              </a:lnSpc>
              <a:spcBef>
                <a:spcPct val="0"/>
              </a:spcBef>
            </a:pPr>
          </a:p>
          <a:p>
            <a:pPr algn="ctr">
              <a:lnSpc>
                <a:spcPts val="38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44356" y="2143666"/>
            <a:ext cx="6159208" cy="2021586"/>
            <a:chOff x="0" y="0"/>
            <a:chExt cx="8212277" cy="26954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12328" cy="2695448"/>
            </a:xfrm>
            <a:custGeom>
              <a:avLst/>
              <a:gdLst/>
              <a:ahLst/>
              <a:cxnLst/>
              <a:rect r="r" b="b" t="t" l="l"/>
              <a:pathLst>
                <a:path h="2695448" w="8212328">
                  <a:moveTo>
                    <a:pt x="0" y="0"/>
                  </a:moveTo>
                  <a:lnTo>
                    <a:pt x="8212328" y="0"/>
                  </a:lnTo>
                  <a:lnTo>
                    <a:pt x="8212328" y="2695448"/>
                  </a:lnTo>
                  <a:lnTo>
                    <a:pt x="0" y="2695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" t="0" r="-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8740" y="5883634"/>
            <a:ext cx="1559052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80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DAHDedRGPzA</dc:identifier>
  <dcterms:modified xsi:type="dcterms:W3CDTF">2011-08-01T06:04:30Z</dcterms:modified>
  <cp:revision>1</cp:revision>
  <dc:title>M5 PPT - Section 2</dc:title>
</cp:coreProperties>
</file>